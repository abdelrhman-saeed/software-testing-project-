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2"/>
  </p:notesMasterIdLst>
  <p:sldIdLst>
    <p:sldId id="259" r:id="rId5"/>
    <p:sldId id="269" r:id="rId6"/>
    <p:sldId id="260" r:id="rId7"/>
    <p:sldId id="265" r:id="rId8"/>
    <p:sldId id="257" r:id="rId9"/>
    <p:sldId id="261" r:id="rId10"/>
    <p:sldId id="264" r:id="rId11"/>
    <p:sldId id="258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1" autoAdjust="0"/>
    <p:restoredTop sz="94619" autoAdjust="0"/>
  </p:normalViewPr>
  <p:slideViewPr>
    <p:cSldViewPr snapToGrid="0">
      <p:cViewPr varScale="1">
        <p:scale>
          <a:sx n="93" d="100"/>
          <a:sy n="93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A27A7-0A80-4D3C-956B-541F604E7C4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7D775-2A58-41A7-8149-E4DFEDA14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41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A7D775-2A58-41A7-8149-E4DFEDA140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7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12/10/2025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73DAA41-6880-353A-144A-BB94384F5B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26" t="20891" r="27674"/>
          <a:stretch>
            <a:fillRect/>
          </a:stretch>
        </p:blipFill>
        <p:spPr>
          <a:xfrm>
            <a:off x="5082646" y="1871336"/>
            <a:ext cx="1935467" cy="4967124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CF3D9AAD-F816-35B1-9885-50E3C9D4D542}"/>
              </a:ext>
            </a:extLst>
          </p:cNvPr>
          <p:cNvSpPr/>
          <p:nvPr/>
        </p:nvSpPr>
        <p:spPr>
          <a:xfrm>
            <a:off x="0" y="579120"/>
            <a:ext cx="3403600" cy="13117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704390-DB78-ADE0-1E24-F82866276BA7}"/>
              </a:ext>
            </a:extLst>
          </p:cNvPr>
          <p:cNvSpPr/>
          <p:nvPr/>
        </p:nvSpPr>
        <p:spPr>
          <a:xfrm>
            <a:off x="1935467" y="1064929"/>
            <a:ext cx="3147179" cy="57099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5E95F2-EB93-39CD-FFD4-BC0D91724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435" y="682616"/>
            <a:ext cx="10205357" cy="1188720"/>
          </a:xfrm>
        </p:spPr>
        <p:txBody>
          <a:bodyPr>
            <a:normAutofit/>
          </a:bodyPr>
          <a:lstStyle/>
          <a:p>
            <a:r>
              <a:rPr lang="en-US" dirty="0"/>
              <a:t>Software Testing Project Para bank + Restful booker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A975CD-BA55-F05A-60B5-A3AD2BA02F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566" t="5990" r="29592"/>
          <a:stretch>
            <a:fillRect/>
          </a:stretch>
        </p:blipFill>
        <p:spPr>
          <a:xfrm>
            <a:off x="7842821" y="1871336"/>
            <a:ext cx="1935468" cy="496712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10FA505-EAF5-6EFB-7DFC-CFAF2550FB70}"/>
              </a:ext>
            </a:extLst>
          </p:cNvPr>
          <p:cNvGrpSpPr/>
          <p:nvPr/>
        </p:nvGrpSpPr>
        <p:grpSpPr>
          <a:xfrm>
            <a:off x="5761968" y="579120"/>
            <a:ext cx="918292" cy="806407"/>
            <a:chOff x="11273708" y="50439"/>
            <a:chExt cx="918292" cy="806407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2A996F1-7802-7F47-2DFC-76F8AF08FDF6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C085908-364E-B2F2-AE2B-EBAE479A7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F9774AA1-862B-2FD9-773F-AF695A649E7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663" t="4699" r="21882" b="-1949"/>
          <a:stretch>
            <a:fillRect/>
          </a:stretch>
        </p:blipFill>
        <p:spPr>
          <a:xfrm>
            <a:off x="2519105" y="1890876"/>
            <a:ext cx="1935468" cy="50687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885835B-91E8-CA7E-E915-0A8641EC17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293" t="2279" r="16013"/>
          <a:stretch>
            <a:fillRect/>
          </a:stretch>
        </p:blipFill>
        <p:spPr>
          <a:xfrm>
            <a:off x="10256532" y="1871336"/>
            <a:ext cx="1935468" cy="49671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38F171-5C06-1CF0-7E46-DA46867E2DD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060" r="4728"/>
          <a:stretch>
            <a:fillRect/>
          </a:stretch>
        </p:blipFill>
        <p:spPr>
          <a:xfrm>
            <a:off x="0" y="2156651"/>
            <a:ext cx="1942588" cy="382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340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0766-10AC-FCBB-EAC5-46789423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476" y="-463473"/>
            <a:ext cx="3807928" cy="926946"/>
          </a:xfrm>
        </p:spPr>
        <p:txBody>
          <a:bodyPr/>
          <a:lstStyle/>
          <a:p>
            <a:r>
              <a:rPr lang="en-US" dirty="0"/>
              <a:t>How it all started?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1797-9789-65C4-2374-BE8E56544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48640"/>
            <a:ext cx="11029615" cy="6309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It all started with an email from a company that needed help testing its websites.</a:t>
            </a:r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They were a startup, and like many startups, they didn’t even have an SRS document.</a:t>
            </a:r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They weren’t sure if their systems were reliable.</a:t>
            </a:r>
          </a:p>
          <a:p>
            <a:pPr marL="0" indent="0">
              <a:buNone/>
            </a:pP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Would customers be able to register?</a:t>
            </a:r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Could money be transferred safely?</a:t>
            </a:r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Would the APIs return the correct responses?</a:t>
            </a:r>
          </a:p>
          <a:p>
            <a:pPr marL="0" indent="0">
              <a:buNone/>
            </a:pP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We were hired to find out.</a:t>
            </a:r>
          </a:p>
          <a:p>
            <a:pPr marL="0" indent="0">
              <a:buNone/>
            </a:pP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So before testing, our first responsibility was to create the SRS ourselves — collecting requirements, analyzing every feature, and building a document the company can later update as their system grows.</a:t>
            </a:r>
          </a:p>
          <a:p>
            <a:pPr marL="0" indent="0">
              <a:buNone/>
            </a:pP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Our mission was simple but critical:</a:t>
            </a:r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Find every weakness, break the system, and make sure it behaves exactly as expected.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CA7C87-F922-D62C-DEFA-0CE3E1449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8707" y="1576764"/>
            <a:ext cx="4449127" cy="2831262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31F8119-00B6-3A7C-92B7-7655FED71566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94F496C-FFEC-239A-1B04-3E4EA394AE91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942EFBE-392D-DE91-B0EC-5759EB3BC3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484663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85880F-9ABB-A9E8-CE59-A2CED2A7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060EE42-0231-90F2-7477-AECBBE79F9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25863E-C2F5-C519-9664-45CD3181E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5C6522-6284-BBAE-5FFC-17023E1A37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0F000B-9C7F-6488-5463-DBE88AA32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B26095-2663-23D7-9BAA-113A19169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72" y="957218"/>
            <a:ext cx="2241272" cy="156037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284D6763-AFAB-C2F6-8227-4C457167C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1479" y="662685"/>
            <a:ext cx="2044022" cy="686309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B45626-4E93-9274-9CAF-E7C1EAEB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219261" y="930671"/>
            <a:ext cx="2044022" cy="15603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C2F86D0-C9F9-4F44-7B8D-47EA9FE51C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55"/>
          <a:stretch>
            <a:fillRect/>
          </a:stretch>
        </p:blipFill>
        <p:spPr>
          <a:xfrm rot="7755051">
            <a:off x="5215462" y="1353157"/>
            <a:ext cx="1857045" cy="1614811"/>
          </a:xfrm>
          <a:prstGeom prst="rect">
            <a:avLst/>
          </a:prstGeom>
        </p:spPr>
      </p:pic>
      <p:sp>
        <p:nvSpPr>
          <p:cNvPr id="14" name="Title 8">
            <a:extLst>
              <a:ext uri="{FF2B5EF4-FFF2-40B4-BE49-F238E27FC236}">
                <a16:creationId xmlns:a16="http://schemas.microsoft.com/office/drawing/2014/main" id="{47A9D15D-0FBF-243A-2A3E-D3BB2393DCFA}"/>
              </a:ext>
            </a:extLst>
          </p:cNvPr>
          <p:cNvSpPr txBox="1">
            <a:spLocks/>
          </p:cNvSpPr>
          <p:nvPr/>
        </p:nvSpPr>
        <p:spPr>
          <a:xfrm>
            <a:off x="9893807" y="2491050"/>
            <a:ext cx="943768" cy="68630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err="1"/>
              <a:t>api</a:t>
            </a:r>
            <a:endParaRPr lang="en-US" dirty="0"/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BD444D55-C2A7-9B1C-164B-5FA65266952B}"/>
              </a:ext>
            </a:extLst>
          </p:cNvPr>
          <p:cNvSpPr txBox="1">
            <a:spLocks/>
          </p:cNvSpPr>
          <p:nvPr/>
        </p:nvSpPr>
        <p:spPr>
          <a:xfrm>
            <a:off x="4688598" y="2896070"/>
            <a:ext cx="3087615" cy="68630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automation</a:t>
            </a:r>
          </a:p>
        </p:txBody>
      </p:sp>
      <p:sp>
        <p:nvSpPr>
          <p:cNvPr id="17" name="Title 8">
            <a:extLst>
              <a:ext uri="{FF2B5EF4-FFF2-40B4-BE49-F238E27FC236}">
                <a16:creationId xmlns:a16="http://schemas.microsoft.com/office/drawing/2014/main" id="{7F7AA32F-721C-4B76-99B7-93A145C085F5}"/>
              </a:ext>
            </a:extLst>
          </p:cNvPr>
          <p:cNvSpPr txBox="1">
            <a:spLocks/>
          </p:cNvSpPr>
          <p:nvPr/>
        </p:nvSpPr>
        <p:spPr>
          <a:xfrm>
            <a:off x="8805434" y="4840260"/>
            <a:ext cx="3120513" cy="68630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Restful booker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9003F11-A622-5FF3-FDCD-D0C079B7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255"/>
          <a:stretch>
            <a:fillRect/>
          </a:stretch>
        </p:blipFill>
        <p:spPr>
          <a:xfrm rot="7755051">
            <a:off x="9503128" y="3256689"/>
            <a:ext cx="1857045" cy="161481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170C8B-0366-467D-2F21-8461E79DE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509368">
            <a:off x="4810533" y="3746100"/>
            <a:ext cx="1341060" cy="16378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C4C981A-B6E7-7F07-DBC2-441101D41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895428" flipH="1">
            <a:off x="860531" y="3615269"/>
            <a:ext cx="1489562" cy="1637810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E411F703-B2A1-53C9-4D59-19DED63079C5}"/>
              </a:ext>
            </a:extLst>
          </p:cNvPr>
          <p:cNvSpPr txBox="1">
            <a:spLocks/>
          </p:cNvSpPr>
          <p:nvPr/>
        </p:nvSpPr>
        <p:spPr>
          <a:xfrm>
            <a:off x="396744" y="2490202"/>
            <a:ext cx="2044022" cy="74902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Manual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AFCFC5D-1759-7BF7-2015-FAD24F7B1683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F7FB722-1A2E-8CF1-F38D-9B1F02B83593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1261347-297E-92E7-992F-D44A79E7B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9A89E853-7D1B-3A0F-D2A2-5802DFF23FF2}"/>
              </a:ext>
            </a:extLst>
          </p:cNvPr>
          <p:cNvSpPr txBox="1">
            <a:spLocks/>
          </p:cNvSpPr>
          <p:nvPr/>
        </p:nvSpPr>
        <p:spPr>
          <a:xfrm>
            <a:off x="2282750" y="4999418"/>
            <a:ext cx="2405848" cy="51927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Para bank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771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20EDD6-429E-2314-5BE1-CF81186FC35D}"/>
              </a:ext>
            </a:extLst>
          </p:cNvPr>
          <p:cNvSpPr txBox="1"/>
          <p:nvPr/>
        </p:nvSpPr>
        <p:spPr>
          <a:xfrm>
            <a:off x="438952" y="1318736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ParaBank</a:t>
            </a: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 is a demo online banking application.</a:t>
            </a:r>
          </a:p>
          <a:p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It simulates real banking features such as account management, fund transfers, bill payments, loans, and profile updates.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2793119-4CFE-CFFC-CC12-4AC796946306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424169-8595-3679-C3E9-D1F340370DA0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BC692F-D0FA-6EFE-2CDB-03D7A3A97B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D0AD0-2B85-AADC-E340-9CAA3FAF3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62" b="48780"/>
          <a:stretch>
            <a:fillRect/>
          </a:stretch>
        </p:blipFill>
        <p:spPr>
          <a:xfrm>
            <a:off x="119142" y="3847164"/>
            <a:ext cx="5761775" cy="12836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D34DE3-B7EB-EBED-1AF3-3B5BCC383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952" y="1503680"/>
            <a:ext cx="5537906" cy="4517766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D432A11D-9993-7A2C-3A05-0F85C55E0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52" y="623012"/>
            <a:ext cx="2405848" cy="519276"/>
          </a:xfrm>
        </p:spPr>
        <p:txBody>
          <a:bodyPr/>
          <a:lstStyle/>
          <a:p>
            <a:r>
              <a:rPr lang="en-US" dirty="0"/>
              <a:t>Para bank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EEE92E7A-4977-25E6-93CA-6172E88661BE}"/>
              </a:ext>
            </a:extLst>
          </p:cNvPr>
          <p:cNvSpPr txBox="1">
            <a:spLocks/>
          </p:cNvSpPr>
          <p:nvPr/>
        </p:nvSpPr>
        <p:spPr>
          <a:xfrm>
            <a:off x="438952" y="623012"/>
            <a:ext cx="2631402" cy="519276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/>
              <a:t>Para bank</a:t>
            </a:r>
          </a:p>
        </p:txBody>
      </p:sp>
    </p:spTree>
    <p:extLst>
      <p:ext uri="{BB962C8B-B14F-4D97-AF65-F5344CB8AC3E}">
        <p14:creationId xmlns:p14="http://schemas.microsoft.com/office/powerpoint/2010/main" val="2794115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738" y="-215969"/>
            <a:ext cx="4023760" cy="749022"/>
          </a:xfrm>
        </p:spPr>
        <p:txBody>
          <a:bodyPr>
            <a:normAutofit/>
          </a:bodyPr>
          <a:lstStyle/>
          <a:p>
            <a:r>
              <a:rPr lang="en-US" dirty="0"/>
              <a:t>Manual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575544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Para bank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5BF7F5-6106-778A-B410-985FD2066054}"/>
              </a:ext>
            </a:extLst>
          </p:cNvPr>
          <p:cNvSpPr txBox="1"/>
          <p:nvPr/>
        </p:nvSpPr>
        <p:spPr>
          <a:xfrm>
            <a:off x="5318638" y="793880"/>
            <a:ext cx="12158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Roles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654F6-6BDF-4435-9ABB-FF796B531158}"/>
              </a:ext>
            </a:extLst>
          </p:cNvPr>
          <p:cNvSpPr txBox="1"/>
          <p:nvPr/>
        </p:nvSpPr>
        <p:spPr>
          <a:xfrm>
            <a:off x="5265935" y="2459308"/>
            <a:ext cx="1583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Manager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7122B-C78C-FA26-B3C7-BE010128F8AF}"/>
              </a:ext>
            </a:extLst>
          </p:cNvPr>
          <p:cNvSpPr txBox="1"/>
          <p:nvPr/>
        </p:nvSpPr>
        <p:spPr>
          <a:xfrm>
            <a:off x="1506529" y="2314436"/>
            <a:ext cx="1583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Customer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6F283A-06C3-9236-6415-249BF808C48C}"/>
              </a:ext>
            </a:extLst>
          </p:cNvPr>
          <p:cNvSpPr txBox="1"/>
          <p:nvPr/>
        </p:nvSpPr>
        <p:spPr>
          <a:xfrm>
            <a:off x="9541978" y="2263795"/>
            <a:ext cx="1064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Guest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265267F-8C55-5722-A8F5-F2259075D5C9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  <a:solidFill>
            <a:schemeClr val="bg1"/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1867A5D-77E2-67E8-24A7-744EB0962DCD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737BB2D-8364-F8D6-3E69-21F10D5755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</p:pic>
      </p:grpSp>
      <p:sp>
        <p:nvSpPr>
          <p:cNvPr id="55" name="Arrow: Bent 54">
            <a:extLst>
              <a:ext uri="{FF2B5EF4-FFF2-40B4-BE49-F238E27FC236}">
                <a16:creationId xmlns:a16="http://schemas.microsoft.com/office/drawing/2014/main" id="{85C3C0B1-611F-2A02-0E7C-000C4B543533}"/>
              </a:ext>
            </a:extLst>
          </p:cNvPr>
          <p:cNvSpPr/>
          <p:nvPr/>
        </p:nvSpPr>
        <p:spPr>
          <a:xfrm rot="16200000" flipH="1">
            <a:off x="2840842" y="-11190"/>
            <a:ext cx="1267737" cy="3241320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6" name="Arrow: Bent 55">
            <a:extLst>
              <a:ext uri="{FF2B5EF4-FFF2-40B4-BE49-F238E27FC236}">
                <a16:creationId xmlns:a16="http://schemas.microsoft.com/office/drawing/2014/main" id="{55BD873E-1E15-024A-8717-1365CD39A4AD}"/>
              </a:ext>
            </a:extLst>
          </p:cNvPr>
          <p:cNvSpPr/>
          <p:nvPr/>
        </p:nvSpPr>
        <p:spPr>
          <a:xfrm rot="16200000" flipH="1" flipV="1">
            <a:off x="7901275" y="-167921"/>
            <a:ext cx="1267737" cy="355478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394FBF75-080F-65AE-3157-66080AD6589A}"/>
              </a:ext>
            </a:extLst>
          </p:cNvPr>
          <p:cNvSpPr/>
          <p:nvPr/>
        </p:nvSpPr>
        <p:spPr>
          <a:xfrm>
            <a:off x="5751493" y="1459740"/>
            <a:ext cx="341997" cy="8736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1C82D8F2-6250-760C-A9F4-A771C3E4F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639" y="2745916"/>
            <a:ext cx="4866678" cy="4070942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A7ABBAE-809C-52D0-3F59-DB09BCF3E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0" y="2920973"/>
            <a:ext cx="5305338" cy="391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BC876-272D-CEBE-9156-2563003C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C47213D-2B4C-8E8B-0C43-04B86EA03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0FD1E-2764-5E02-0BE8-48986BB5C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1225366"/>
            <a:ext cx="10993546" cy="468233"/>
          </a:xfrm>
        </p:spPr>
        <p:txBody>
          <a:bodyPr>
            <a:normAutofit/>
          </a:bodyPr>
          <a:lstStyle/>
          <a:p>
            <a:r>
              <a:rPr lang="en-US" dirty="0"/>
              <a:t>Para bank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254B53-35B8-F0F4-1213-1A813EC3C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D4C9A9-46AB-1627-7A72-5D4758D10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B5C849-B4E4-C687-7B02-B9146EC94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86EDE2-01C9-81E0-A78C-D7AC079B5DD4}"/>
              </a:ext>
            </a:extLst>
          </p:cNvPr>
          <p:cNvSpPr txBox="1"/>
          <p:nvPr/>
        </p:nvSpPr>
        <p:spPr>
          <a:xfrm>
            <a:off x="446534" y="1463880"/>
            <a:ext cx="132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Roles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3B048-7A77-5575-E594-CF9F25BFEFCE}"/>
              </a:ext>
            </a:extLst>
          </p:cNvPr>
          <p:cNvSpPr txBox="1"/>
          <p:nvPr/>
        </p:nvSpPr>
        <p:spPr>
          <a:xfrm>
            <a:off x="504963" y="2106433"/>
            <a:ext cx="1583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Manager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377DD-B725-F72E-80FD-7900F01EC035}"/>
              </a:ext>
            </a:extLst>
          </p:cNvPr>
          <p:cNvSpPr txBox="1"/>
          <p:nvPr/>
        </p:nvSpPr>
        <p:spPr>
          <a:xfrm>
            <a:off x="504963" y="3393652"/>
            <a:ext cx="1583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Customer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6F6D2-50A3-0CCB-75EE-0C478523F3E1}"/>
              </a:ext>
            </a:extLst>
          </p:cNvPr>
          <p:cNvSpPr txBox="1"/>
          <p:nvPr/>
        </p:nvSpPr>
        <p:spPr>
          <a:xfrm>
            <a:off x="576661" y="4860844"/>
            <a:ext cx="1064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Guest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D056F-B987-1C79-D66F-AC5EBA758590}"/>
              </a:ext>
            </a:extLst>
          </p:cNvPr>
          <p:cNvSpPr txBox="1"/>
          <p:nvPr/>
        </p:nvSpPr>
        <p:spPr>
          <a:xfrm>
            <a:off x="572696" y="252133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is an </a:t>
            </a:r>
            <a:r>
              <a:rPr lang="en-US" sz="2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admin-level role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 that has </a:t>
            </a:r>
            <a:r>
              <a:rPr lang="en-US" sz="2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full control over all customers and accounts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B21C1A-9EF4-365C-2850-81A755243855}"/>
              </a:ext>
            </a:extLst>
          </p:cNvPr>
          <p:cNvCxnSpPr/>
          <p:nvPr/>
        </p:nvCxnSpPr>
        <p:spPr>
          <a:xfrm>
            <a:off x="416856" y="3344723"/>
            <a:ext cx="1105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25CE3F9-F001-BC4A-3587-D46FB4D1D570}"/>
              </a:ext>
            </a:extLst>
          </p:cNvPr>
          <p:cNvCxnSpPr/>
          <p:nvPr/>
        </p:nvCxnSpPr>
        <p:spPr>
          <a:xfrm>
            <a:off x="339459" y="2047046"/>
            <a:ext cx="1105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11F8953-0D68-51D0-2716-98BE6A24E868}"/>
              </a:ext>
            </a:extLst>
          </p:cNvPr>
          <p:cNvSpPr txBox="1"/>
          <p:nvPr/>
        </p:nvSpPr>
        <p:spPr>
          <a:xfrm>
            <a:off x="504963" y="3819010"/>
            <a:ext cx="7055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is a registered user who can log in and perform personal banking activities.</a:t>
            </a:r>
            <a:b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They have access only to </a:t>
            </a:r>
            <a:r>
              <a:rPr lang="en-US" sz="2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their own accounts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, not to other users' accounts.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1B3C5E9-4E07-07ED-2D03-C50D6BBD7523}"/>
              </a:ext>
            </a:extLst>
          </p:cNvPr>
          <p:cNvCxnSpPr/>
          <p:nvPr/>
        </p:nvCxnSpPr>
        <p:spPr>
          <a:xfrm>
            <a:off x="387178" y="4801458"/>
            <a:ext cx="110529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8A21AAD-D66C-392E-D533-F694076B5373}"/>
              </a:ext>
            </a:extLst>
          </p:cNvPr>
          <p:cNvSpPr txBox="1"/>
          <p:nvPr/>
        </p:nvSpPr>
        <p:spPr>
          <a:xfrm>
            <a:off x="572696" y="5322509"/>
            <a:ext cx="64431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A new visitor curious about the system </a:t>
            </a:r>
          </a:p>
          <a:p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is an unregistered user who is not logged into </a:t>
            </a:r>
            <a:r>
              <a:rPr lang="en-US" sz="2400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ParaBank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.</a:t>
            </a:r>
            <a:b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They have </a:t>
            </a:r>
            <a:r>
              <a:rPr lang="en-US" sz="2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very limited access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 and </a:t>
            </a:r>
            <a:r>
              <a:rPr lang="en-US" sz="24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cannot perform any banking actions</a:t>
            </a:r>
            <a:r>
              <a:rPr lang="en-US" sz="2400" dirty="0">
                <a:latin typeface="Adobe Arabic" panose="02040503050201020203" pitchFamily="18" charset="-78"/>
                <a:cs typeface="Adobe Arabic" panose="02040503050201020203" pitchFamily="18" charset="-78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320B5-D687-7299-89B3-A9CA585779AE}"/>
              </a:ext>
            </a:extLst>
          </p:cNvPr>
          <p:cNvSpPr txBox="1"/>
          <p:nvPr/>
        </p:nvSpPr>
        <p:spPr>
          <a:xfrm>
            <a:off x="-2380679" y="640591"/>
            <a:ext cx="236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Capabilities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734BDE2D-143B-A43F-408C-2C12ED091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856" y="538135"/>
            <a:ext cx="4023760" cy="749022"/>
          </a:xfrm>
        </p:spPr>
        <p:txBody>
          <a:bodyPr>
            <a:normAutofit/>
          </a:bodyPr>
          <a:lstStyle/>
          <a:p>
            <a:r>
              <a:rPr lang="en-US" dirty="0"/>
              <a:t>Manual testing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9FAD783-B6B9-3A03-5A1A-4C1648445A75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8D06E6-8431-4693-DF7B-A4DA5F46B625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D175D346-BA81-658F-852E-BCE576B81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507049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49E4F-6777-EC7F-024E-B3D913B8A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AC87621-5809-1020-C4A2-C679B8A02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BC418-4297-8B4E-6698-D9643EE1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898" y="-171896"/>
            <a:ext cx="4023760" cy="749022"/>
          </a:xfrm>
        </p:spPr>
        <p:txBody>
          <a:bodyPr>
            <a:normAutofit/>
          </a:bodyPr>
          <a:lstStyle/>
          <a:p>
            <a:r>
              <a:rPr lang="en-US" dirty="0"/>
              <a:t>Manual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948AA-FEBF-C058-2A99-BDE13220E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566093"/>
            <a:ext cx="1179066" cy="468233"/>
          </a:xfrm>
        </p:spPr>
        <p:txBody>
          <a:bodyPr>
            <a:normAutofit/>
          </a:bodyPr>
          <a:lstStyle/>
          <a:p>
            <a:r>
              <a:rPr lang="en-US" dirty="0"/>
              <a:t>Para bank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FBE940-5617-561E-629B-26A13172C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2EA97D-DE8E-2250-6744-5E95350E8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E4D753-7BB1-8BC8-E178-09ABF6D5B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0E466E-4E58-E3F1-5235-CF5EB41C8984}"/>
              </a:ext>
            </a:extLst>
          </p:cNvPr>
          <p:cNvSpPr txBox="1"/>
          <p:nvPr/>
        </p:nvSpPr>
        <p:spPr>
          <a:xfrm>
            <a:off x="4763555" y="501667"/>
            <a:ext cx="2365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Capabilities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CFB284-5739-4D41-7F92-CC849D167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23" y="1079839"/>
            <a:ext cx="7958704" cy="578510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82A04AF-B6F7-40F0-B138-0A875E613336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70E8B8E-06F7-53EF-DE97-5905AFBBF151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89F2726-1101-9366-E3BF-FDEF5FFFC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82108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857A4C6-023B-D9AB-1DE3-95FAEB835A9B}"/>
              </a:ext>
            </a:extLst>
          </p:cNvPr>
          <p:cNvSpPr txBox="1">
            <a:spLocks/>
          </p:cNvSpPr>
          <p:nvPr/>
        </p:nvSpPr>
        <p:spPr>
          <a:xfrm>
            <a:off x="369898" y="-171896"/>
            <a:ext cx="4023760" cy="7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Manual testing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883213-9069-03EB-CB27-EDC515DEB974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0B9793-6400-8586-B016-1280989AC7BC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D7B1842-A3FD-6CDA-C24C-2D4D4FF01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F93BE4-384E-0713-8798-263FA63D99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08783"/>
              </p:ext>
            </p:extLst>
          </p:nvPr>
        </p:nvGraphicFramePr>
        <p:xfrm>
          <a:off x="0" y="2213186"/>
          <a:ext cx="12192000" cy="4380658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139439">
                  <a:extLst>
                    <a:ext uri="{9D8B030D-6E8A-4147-A177-3AD203B41FA5}">
                      <a16:colId xmlns:a16="http://schemas.microsoft.com/office/drawing/2014/main" val="1049079080"/>
                    </a:ext>
                  </a:extLst>
                </a:gridCol>
                <a:gridCol w="9052561">
                  <a:extLst>
                    <a:ext uri="{9D8B030D-6E8A-4147-A177-3AD203B41FA5}">
                      <a16:colId xmlns:a16="http://schemas.microsoft.com/office/drawing/2014/main" val="576992889"/>
                    </a:ext>
                  </a:extLst>
                </a:gridCol>
              </a:tblGrid>
              <a:tr h="97366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Abdelrahman Saeed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Public page(All) , Forgot Login Info(Manager) , Forgot Login Info(Customer) , Forgot Login Info(Guest) , Login(Manager) , Login(Customer)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17518"/>
                  </a:ext>
                </a:extLst>
              </a:tr>
              <a:tr h="80094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Nour El-Din Kamal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Request Loan(Manager) , Request Loan(Customer)  ,</a:t>
                      </a:r>
                    </a:p>
                    <a:p>
                      <a:pPr algn="ctr" rtl="0"/>
                      <a:r>
                        <a:rPr lang="en-US" dirty="0"/>
                        <a:t>Delete account(Manager) , Delete Customer(Manager) , Logout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0700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Reda Sakr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Deposit(Manager) , Withdraw(Manager)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200813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Ali Khalil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Register(Manager) , Register(Customer) , Transfer Funds(Manager) , Transfer Funds(Customer) , Find Transaction(Manager) , Find Transaction(Customer)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29957"/>
                  </a:ext>
                </a:extLst>
              </a:tr>
              <a:tr h="87037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Alaa Eldin Omar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Open New Account(Customer) , Open New Account(Manager) , Bill Payment(Manager) ,     Bill Payment(Customer) ,  Update Contact info(Manager) , Update Contact info(Customer)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2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Rodina Mohamed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340346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258E8DE4-ABD7-C2AB-2F50-B7040316E44A}"/>
              </a:ext>
            </a:extLst>
          </p:cNvPr>
          <p:cNvSpPr txBox="1">
            <a:spLocks/>
          </p:cNvSpPr>
          <p:nvPr/>
        </p:nvSpPr>
        <p:spPr>
          <a:xfrm>
            <a:off x="2397507" y="806407"/>
            <a:ext cx="7396986" cy="7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Feature Ownership &amp; Task Distribution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A565C1F-2F83-C36E-773E-708A8C6E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991842" y="-30128"/>
            <a:ext cx="4011128" cy="588568"/>
          </a:xfrm>
        </p:spPr>
        <p:txBody>
          <a:bodyPr>
            <a:normAutofit/>
          </a:bodyPr>
          <a:lstStyle/>
          <a:p>
            <a:r>
              <a:rPr lang="en-US" dirty="0"/>
              <a:t>Automation Testing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2410F-9203-3A89-3A7D-FC118CFF2C62}"/>
              </a:ext>
            </a:extLst>
          </p:cNvPr>
          <p:cNvSpPr txBox="1"/>
          <p:nvPr/>
        </p:nvSpPr>
        <p:spPr>
          <a:xfrm>
            <a:off x="266232" y="-401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Para bank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3824-D055-3A98-54DA-41C100C5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72" y="512123"/>
            <a:ext cx="4011128" cy="588568"/>
          </a:xfrm>
        </p:spPr>
        <p:txBody>
          <a:bodyPr>
            <a:normAutofit/>
          </a:bodyPr>
          <a:lstStyle/>
          <a:p>
            <a:r>
              <a:rPr lang="en-US" dirty="0"/>
              <a:t>Automation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66584D-348A-FD9D-426A-839FE3D1D084}"/>
              </a:ext>
            </a:extLst>
          </p:cNvPr>
          <p:cNvSpPr txBox="1"/>
          <p:nvPr/>
        </p:nvSpPr>
        <p:spPr>
          <a:xfrm>
            <a:off x="459272" y="1021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Para bank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AAEDCF-D368-1194-372F-7B07B7ABB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54" y="0"/>
            <a:ext cx="877146" cy="8064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FF866DF-3CD4-00BC-F893-FA79770C4BF9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8B4BD7A-3666-B3C1-A921-3D552978894B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1E5F6E1-DAC4-9E02-03F9-29FD123D9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6445136-DEDF-7364-25B9-2DE682287B51}"/>
              </a:ext>
            </a:extLst>
          </p:cNvPr>
          <p:cNvSpPr txBox="1"/>
          <p:nvPr/>
        </p:nvSpPr>
        <p:spPr>
          <a:xfrm>
            <a:off x="212493" y="1390340"/>
            <a:ext cx="617520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For automation, we focused only on Customer features.</a:t>
            </a:r>
          </a:p>
          <a:p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We automated essential test cases using Eclipse with Selenium and TestNG.</a:t>
            </a:r>
          </a:p>
          <a:p>
            <a:b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 goal was to validate the core user flows efficiently and ensure consistent behavior.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992D1B-D9D7-386B-D86C-FB338D12A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672" y="4200835"/>
            <a:ext cx="4514850" cy="25336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48FDA6-F6F7-17EF-8042-DA550FF62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3676" y="806407"/>
            <a:ext cx="3809992" cy="363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19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911A2-7376-059A-6206-384B9559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A5DB-75FB-D21C-E254-A850A7BC8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592" y="-114887"/>
            <a:ext cx="4011128" cy="588568"/>
          </a:xfrm>
        </p:spPr>
        <p:txBody>
          <a:bodyPr>
            <a:normAutofit/>
          </a:bodyPr>
          <a:lstStyle/>
          <a:p>
            <a:r>
              <a:rPr lang="en-US" dirty="0"/>
              <a:t>Automation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1AFFB7-A7A0-69EE-AD91-3B78DECD9CD6}"/>
              </a:ext>
            </a:extLst>
          </p:cNvPr>
          <p:cNvSpPr txBox="1"/>
          <p:nvPr/>
        </p:nvSpPr>
        <p:spPr>
          <a:xfrm>
            <a:off x="459272" y="86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Para bank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04D5AC-6628-E17E-C7A3-DC65B638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54" y="0"/>
            <a:ext cx="877146" cy="8064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5EFCC26-AA01-0A28-394A-7444A3DF6051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411C7E-DD5D-B8FC-3519-FBB445D863DA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D59B9F-3950-4180-BBEB-B43429F744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9830177-9F2F-3CD1-CAF0-642EE0AF4094}"/>
              </a:ext>
            </a:extLst>
          </p:cNvPr>
          <p:cNvSpPr txBox="1"/>
          <p:nvPr/>
        </p:nvSpPr>
        <p:spPr>
          <a:xfrm>
            <a:off x="4509728" y="762564"/>
            <a:ext cx="3570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  <a:cs typeface="Adobe Arabic" panose="02040503050201020203" pitchFamily="18" charset="-78"/>
              </a:rPr>
              <a:t>Features to test</a:t>
            </a:r>
          </a:p>
          <a:p>
            <a:endParaRPr lang="en-US" sz="20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74882D-BF32-C6DB-DDEE-4F9D70E1C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451" y="6240467"/>
            <a:ext cx="4514850" cy="25336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547DF03-EA6F-560F-20BD-F292B107F7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2714" y="473681"/>
            <a:ext cx="3809992" cy="3633157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FB47C3-05E8-1FEF-75C6-71F55ABB4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493663"/>
              </p:ext>
            </p:extLst>
          </p:nvPr>
        </p:nvGraphicFramePr>
        <p:xfrm>
          <a:off x="4721392" y="1716133"/>
          <a:ext cx="3147528" cy="46634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147528">
                  <a:extLst>
                    <a:ext uri="{9D8B030D-6E8A-4147-A177-3AD203B41FA5}">
                      <a16:colId xmlns:a16="http://schemas.microsoft.com/office/drawing/2014/main" val="1609619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/>
                        <a:t>Login</a:t>
                      </a:r>
                      <a:endParaRPr lang="en-US" sz="2800" b="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92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Register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2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Forget login info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722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Bill payment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6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Open new account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55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Fund transfer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45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Find transaction 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81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Update contact info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05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Request loan</a:t>
                      </a:r>
                      <a:endParaRPr lang="en-US" sz="2800" dirty="0">
                        <a:latin typeface="Adobe Arabic" panose="02040503050201020203" pitchFamily="18" charset="-78"/>
                        <a:cs typeface="Adobe Arabic" panose="02040503050201020203" pitchFamily="18" charset="-7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93430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C80372-3DBB-01E0-C9F9-4F653A647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7934" y="2290259"/>
            <a:ext cx="2596260" cy="30471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7FE35-F4A2-3869-F701-1976C3141F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06" y="2106859"/>
            <a:ext cx="2515570" cy="34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59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1A73-0028-C6BD-BCC5-28534380B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C000D-E831-7ABD-D4BA-70A9065F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592" y="-114887"/>
            <a:ext cx="4011128" cy="588568"/>
          </a:xfrm>
        </p:spPr>
        <p:txBody>
          <a:bodyPr>
            <a:normAutofit/>
          </a:bodyPr>
          <a:lstStyle/>
          <a:p>
            <a:r>
              <a:rPr lang="en-US" dirty="0"/>
              <a:t>Automation Testing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154AC-EE6B-98A8-3204-80F81DE364CE}"/>
              </a:ext>
            </a:extLst>
          </p:cNvPr>
          <p:cNvSpPr txBox="1"/>
          <p:nvPr/>
        </p:nvSpPr>
        <p:spPr>
          <a:xfrm>
            <a:off x="459272" y="860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Para bank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E328E2-98BD-E549-6A41-C5A07E217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54" y="0"/>
            <a:ext cx="877146" cy="8064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422C563-F832-590D-8786-6A9C4AEAFE06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FF15CA-E0C7-4036-762B-3A832A4AEB72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984317A-39F3-477B-342B-826139074E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9FE51948-98D3-3D74-6367-CB46EBD59C6E}"/>
              </a:ext>
            </a:extLst>
          </p:cNvPr>
          <p:cNvSpPr txBox="1">
            <a:spLocks/>
          </p:cNvSpPr>
          <p:nvPr/>
        </p:nvSpPr>
        <p:spPr>
          <a:xfrm>
            <a:off x="2397507" y="806407"/>
            <a:ext cx="7396986" cy="7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Feature Ownership &amp; Task Distribution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5663C33-9240-3FD1-73DE-08718B367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137322"/>
              </p:ext>
            </p:extLst>
          </p:nvPr>
        </p:nvGraphicFramePr>
        <p:xfrm>
          <a:off x="0" y="2101517"/>
          <a:ext cx="7710043" cy="36731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5335">
                  <a:extLst>
                    <a:ext uri="{9D8B030D-6E8A-4147-A177-3AD203B41FA5}">
                      <a16:colId xmlns:a16="http://schemas.microsoft.com/office/drawing/2014/main" val="1049079080"/>
                    </a:ext>
                  </a:extLst>
                </a:gridCol>
                <a:gridCol w="5724708">
                  <a:extLst>
                    <a:ext uri="{9D8B030D-6E8A-4147-A177-3AD203B41FA5}">
                      <a16:colId xmlns:a16="http://schemas.microsoft.com/office/drawing/2014/main" val="576992889"/>
                    </a:ext>
                  </a:extLst>
                </a:gridCol>
              </a:tblGrid>
              <a:tr h="5754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Abdelrahman Saeed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Register , Sign in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175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Nour El-Din Kamal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Forget login info , open new account , transfer funds , request loan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0700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Reda Sakr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Bill Payment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200813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Ali Khalil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Update contact info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29957"/>
                  </a:ext>
                </a:extLst>
              </a:tr>
              <a:tr h="6573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Alaa Eldin Omar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Find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2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Rodina Mohamed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340346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84C18199-342A-00C3-4A75-8E8E0C8A1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744" y="1461862"/>
            <a:ext cx="2930743" cy="535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58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AD65C6-C982-8549-F32A-7FB6EB3F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72809A-6465-1B8B-A9F0-8DBC8696D2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B77F2B-AB16-F025-4B6D-B96F46EC9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1969" y="-200382"/>
            <a:ext cx="1215062" cy="749022"/>
          </a:xfrm>
        </p:spPr>
        <p:txBody>
          <a:bodyPr>
            <a:normAutofit/>
          </a:bodyPr>
          <a:lstStyle/>
          <a:p>
            <a:r>
              <a:rPr lang="en-US" dirty="0"/>
              <a:t>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F1CB1-7F50-0A46-9B1C-75BBF5D966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566093"/>
            <a:ext cx="2052826" cy="468233"/>
          </a:xfrm>
        </p:spPr>
        <p:txBody>
          <a:bodyPr>
            <a:normAutofit/>
          </a:bodyPr>
          <a:lstStyle/>
          <a:p>
            <a:r>
              <a:rPr lang="en-US" dirty="0"/>
              <a:t>RESTFUL BOOKER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A787C6-C604-C164-72F5-B5D8A8F6F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DB7E4F-3F08-3697-E326-EE08BE15D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D64A3A-1B26-F9D5-D0D3-7EC0E6807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B8C02-5771-086F-E322-D4E22021178F}"/>
              </a:ext>
            </a:extLst>
          </p:cNvPr>
          <p:cNvSpPr txBox="1"/>
          <p:nvPr/>
        </p:nvSpPr>
        <p:spPr>
          <a:xfrm>
            <a:off x="0" y="1048222"/>
            <a:ext cx="868828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After testing the UI of </a:t>
            </a:r>
            <a:r>
              <a:rPr lang="en-US" sz="3200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Parabank</a:t>
            </a:r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, my work wasn’t finished yet.</a:t>
            </a:r>
            <a:b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The company also needed to make sure their API-based system, Restful Booker, was functioning correctly.</a:t>
            </a:r>
          </a:p>
          <a:p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Unlike </a:t>
            </a:r>
            <a:r>
              <a:rPr lang="en-US" sz="3200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Parabank</a:t>
            </a:r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, this system has no buttons, no pages, and no user interface.</a:t>
            </a:r>
            <a:b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Everything happens through API requests — meaning the only way to communicate with the system is by sending data and receiving responses.</a:t>
            </a:r>
          </a:p>
          <a:p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So I switched from UI testing to API testing using Postman, where every request became like a message I sent to the server, and every response was a clue that helped me verify how the system behaved.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A56A8BC-1F1F-3736-7B30-BC4106BDF9E6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CFC0E0C-815D-210C-5982-3005DC37B36C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4C45FCB-1D33-D160-6F6A-DF6A24C1C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71CD2BB7-BA4F-CD76-1E81-16C9B7639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19" y="2031079"/>
            <a:ext cx="3110865" cy="279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76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9D821F-227F-F947-5CC6-BBD61724A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A82B1E-39F9-5708-26F3-DFB94D8B2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477EB-5869-B22A-8632-29FA0E549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1969" y="-200382"/>
            <a:ext cx="1215062" cy="749022"/>
          </a:xfrm>
        </p:spPr>
        <p:txBody>
          <a:bodyPr>
            <a:normAutofit/>
          </a:bodyPr>
          <a:lstStyle/>
          <a:p>
            <a:r>
              <a:rPr lang="en-US" dirty="0"/>
              <a:t>API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210D3-F11E-10D7-160A-1B670B764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3" y="566093"/>
            <a:ext cx="3113095" cy="1017778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+mj-lt"/>
              </a:rPr>
              <a:t>RESTFUL BOOKER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42AFBA-2FF6-0EF0-980E-3416BDAF2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70BFA6-0095-0D20-AC32-FCAAE1509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144F7C-5557-8B54-248E-3DA2F3AC8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C7006-0BD0-3197-58DD-FDD2DE53519B}"/>
              </a:ext>
            </a:extLst>
          </p:cNvPr>
          <p:cNvSpPr txBox="1"/>
          <p:nvPr/>
        </p:nvSpPr>
        <p:spPr>
          <a:xfrm>
            <a:off x="204673" y="1759422"/>
            <a:ext cx="868828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Restful Booker is a demo hotel booking API used for testing and training.</a:t>
            </a:r>
            <a:b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3200" dirty="0">
                <a:latin typeface="Adobe Arabic" panose="02040503050201020203" pitchFamily="18" charset="-78"/>
                <a:cs typeface="Adobe Arabic" panose="02040503050201020203" pitchFamily="18" charset="-78"/>
              </a:rPr>
              <a:t>It doesn’t have a website or a user interface — everything works through API endpoints.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BB12735-0BB8-0DEC-45DD-BE03611D0B89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4ADF07F-058A-33CD-C839-928CA273DD6F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77AF45F-34B1-B782-39DE-7FE0CBA85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BF7C098-C50A-B12C-1572-8D15BBB5B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404" y="1912348"/>
            <a:ext cx="3037476" cy="303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13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30DF-305A-59B9-53EB-61EEE2168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7076" y="721360"/>
            <a:ext cx="1897848" cy="641196"/>
          </a:xfrm>
        </p:spPr>
        <p:txBody>
          <a:bodyPr/>
          <a:lstStyle/>
          <a:p>
            <a:r>
              <a:rPr lang="en-US" dirty="0"/>
              <a:t>features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224F7C6-4424-856D-50D3-4D189F04D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3056"/>
              </p:ext>
            </p:extLst>
          </p:nvPr>
        </p:nvGraphicFramePr>
        <p:xfrm>
          <a:off x="4721392" y="1716133"/>
          <a:ext cx="3147528" cy="414528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147528">
                  <a:extLst>
                    <a:ext uri="{9D8B030D-6E8A-4147-A177-3AD203B41FA5}">
                      <a16:colId xmlns:a16="http://schemas.microsoft.com/office/drawing/2014/main" val="1609619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Create 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927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Get Booking 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221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Get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722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Create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760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Update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55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Partial Update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452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Delete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81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dobe Arabic" panose="02040503050201020203" pitchFamily="18" charset="-78"/>
                          <a:cs typeface="Adobe Arabic" panose="02040503050201020203" pitchFamily="18" charset="-78"/>
                        </a:rPr>
                        <a:t>Health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605617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65F546A-6824-6734-F08A-759D18590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404" y="1912348"/>
            <a:ext cx="3037476" cy="3033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709D8-B32C-634E-752E-85038B988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43" y="1912348"/>
            <a:ext cx="3110865" cy="279584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E770906-4B09-0489-3001-8A8F8C89B94B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5F34E80-C436-B644-5E50-3A56357AF4AD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EA330EC-64C3-B842-D087-923CC3F3B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338176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AD4B-24D4-DBE2-C075-A4FBC992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80C483-B2F8-97CE-C808-BF64FC4A6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54" y="0"/>
            <a:ext cx="877146" cy="8064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12E368-F144-5589-45FB-2273705C6958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555EE6C-0CF6-9A8A-33E3-68193C7D3796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1F21418-B560-9DEB-93FB-55881AE70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3D0CD443-D061-52A3-99ED-76D9DBCB89C2}"/>
              </a:ext>
            </a:extLst>
          </p:cNvPr>
          <p:cNvSpPr txBox="1">
            <a:spLocks/>
          </p:cNvSpPr>
          <p:nvPr/>
        </p:nvSpPr>
        <p:spPr>
          <a:xfrm>
            <a:off x="2397507" y="806407"/>
            <a:ext cx="7396986" cy="7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Feature Ownership &amp; Task Distribution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63A56B-4D46-9F84-DD67-D6BB870C6A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69142"/>
              </p:ext>
            </p:extLst>
          </p:nvPr>
        </p:nvGraphicFramePr>
        <p:xfrm>
          <a:off x="360680" y="2162477"/>
          <a:ext cx="11470640" cy="354002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953688">
                  <a:extLst>
                    <a:ext uri="{9D8B030D-6E8A-4147-A177-3AD203B41FA5}">
                      <a16:colId xmlns:a16="http://schemas.microsoft.com/office/drawing/2014/main" val="1049079080"/>
                    </a:ext>
                  </a:extLst>
                </a:gridCol>
                <a:gridCol w="8516952">
                  <a:extLst>
                    <a:ext uri="{9D8B030D-6E8A-4147-A177-3AD203B41FA5}">
                      <a16:colId xmlns:a16="http://schemas.microsoft.com/office/drawing/2014/main" val="576992889"/>
                    </a:ext>
                  </a:extLst>
                </a:gridCol>
              </a:tblGrid>
              <a:tr h="5754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Abdelrahman Saeed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Get booking id , Create token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81751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Nour El-Din Kamal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/>
                        <a:t>Get booking , Health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610700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Reda Sakr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Delete booking , partial update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200813"/>
                  </a:ext>
                </a:extLst>
              </a:tr>
              <a:tr h="68241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Ali Khalil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129957"/>
                  </a:ext>
                </a:extLst>
              </a:tr>
              <a:tr h="657368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Mohamed Alaa Eldin Omar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Update booking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422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Rodina Mohamed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9340346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BB85FBC1-5B94-0F53-5987-B1C8BFC87D63}"/>
              </a:ext>
            </a:extLst>
          </p:cNvPr>
          <p:cNvSpPr txBox="1">
            <a:spLocks/>
          </p:cNvSpPr>
          <p:nvPr/>
        </p:nvSpPr>
        <p:spPr>
          <a:xfrm>
            <a:off x="5611969" y="-200382"/>
            <a:ext cx="1215062" cy="7490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API</a:t>
            </a:r>
            <a:endParaRPr lang="en-US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D6A1593A-D975-9D8B-2FF9-41F115C4D829}"/>
              </a:ext>
            </a:extLst>
          </p:cNvPr>
          <p:cNvSpPr txBox="1">
            <a:spLocks/>
          </p:cNvSpPr>
          <p:nvPr/>
        </p:nvSpPr>
        <p:spPr>
          <a:xfrm>
            <a:off x="446534" y="566093"/>
            <a:ext cx="2052826" cy="4682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RESTFUL BOOKER</a:t>
            </a:r>
          </a:p>
        </p:txBody>
      </p:sp>
    </p:spTree>
    <p:extLst>
      <p:ext uri="{BB962C8B-B14F-4D97-AF65-F5344CB8AC3E}">
        <p14:creationId xmlns:p14="http://schemas.microsoft.com/office/powerpoint/2010/main" val="2944928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28C8-1600-8FB5-CF7D-50FE56D26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1BABF70-0D7C-3019-EC65-302DA97B4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4854" y="0"/>
            <a:ext cx="877146" cy="806407"/>
          </a:xfrm>
          <a:prstGeom prst="rect">
            <a:avLst/>
          </a:prstGeom>
          <a:ln>
            <a:solidFill>
              <a:schemeClr val="bg1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25C07F4-BBAA-CF99-987C-7B06327EC649}"/>
              </a:ext>
            </a:extLst>
          </p:cNvPr>
          <p:cNvGrpSpPr/>
          <p:nvPr/>
        </p:nvGrpSpPr>
        <p:grpSpPr>
          <a:xfrm>
            <a:off x="11268688" y="0"/>
            <a:ext cx="918292" cy="806407"/>
            <a:chOff x="11273708" y="50439"/>
            <a:chExt cx="918292" cy="806407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21496B-B62C-DFDE-C8CF-FA2C18880808}"/>
                </a:ext>
              </a:extLst>
            </p:cNvPr>
            <p:cNvSpPr/>
            <p:nvPr/>
          </p:nvSpPr>
          <p:spPr>
            <a:xfrm>
              <a:off x="11273708" y="50439"/>
              <a:ext cx="918292" cy="8064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76D41DC-01C3-D27F-8E37-21535C78DF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00588" y="50439"/>
              <a:ext cx="877146" cy="806407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C4469477-0562-7EBD-FD06-DCD21DAAE10F}"/>
              </a:ext>
            </a:extLst>
          </p:cNvPr>
          <p:cNvSpPr txBox="1">
            <a:spLocks/>
          </p:cNvSpPr>
          <p:nvPr/>
        </p:nvSpPr>
        <p:spPr>
          <a:xfrm>
            <a:off x="4931228" y="265873"/>
            <a:ext cx="2329543" cy="8064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3B74F7-DD3C-ADC9-6701-3E1F39C962BA}"/>
              </a:ext>
            </a:extLst>
          </p:cNvPr>
          <p:cNvSpPr txBox="1"/>
          <p:nvPr/>
        </p:nvSpPr>
        <p:spPr>
          <a:xfrm>
            <a:off x="0" y="1443841"/>
            <a:ext cx="121869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Throughout this project, we worked as a full QA team — starting with creating an SRS for a startup that had no documentation.</a:t>
            </a:r>
          </a:p>
          <a:p>
            <a:pPr>
              <a:buNone/>
            </a:pPr>
            <a:r>
              <a:rPr lang="en-US" sz="28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We validated </a:t>
            </a:r>
            <a:r>
              <a:rPr lang="en-US" sz="2800" b="1" dirty="0" err="1">
                <a:latin typeface="Adobe Arabic" panose="02040503050201020203" pitchFamily="18" charset="-78"/>
                <a:cs typeface="Adobe Arabic" panose="02040503050201020203" pitchFamily="18" charset="-78"/>
              </a:rPr>
              <a:t>ParaBank</a:t>
            </a:r>
            <a:r>
              <a:rPr lang="en-US" sz="28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 through manual and automation testing, and ensured the reliability of Restful Booker through API testing.</a:t>
            </a:r>
            <a:br>
              <a:rPr lang="en-US" sz="2800" b="1" dirty="0">
                <a:latin typeface="Adobe Arabic" panose="02040503050201020203" pitchFamily="18" charset="-78"/>
                <a:cs typeface="Adobe Arabic" panose="02040503050201020203" pitchFamily="18" charset="-78"/>
              </a:rPr>
            </a:br>
            <a:r>
              <a:rPr lang="en-US" sz="28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This project allowed us to practice real-world QA workflows including requirement gathering, test planning, test execution, defect reporting, and task distribution.”</a:t>
            </a:r>
            <a:endParaRPr lang="en-US" sz="2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  <a:p>
            <a:pPr>
              <a:buNone/>
            </a:pPr>
            <a:endParaRPr lang="en-US" sz="2800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0241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C2A1D-3C54-DC8A-973E-2FEFA36BE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60345"/>
            <a:ext cx="12192000" cy="16792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Adobe Arabic" panose="02040503050201020203" pitchFamily="18" charset="-78"/>
                <a:cs typeface="Adobe Arabic" panose="02040503050201020203" pitchFamily="18" charset="-78"/>
              </a:rPr>
              <a:t>In the end, we delivered a complete testing solution — from documentation, to UI testing, to automation, to API validation.</a:t>
            </a:r>
            <a:endParaRPr lang="en-US" sz="3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FF7258-5D3C-B390-70C0-9CA972017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513" y="1284417"/>
            <a:ext cx="8484973" cy="565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2015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{F5885D12-F0EC-41A6-95ED-E62EC78797FE}TF201209c3-d067-44f9-a26f-c8f216c4431347f6cf9d_win32-4021059b889a</Template>
  <TotalTime>707</TotalTime>
  <Words>892</Words>
  <Application>Microsoft Office PowerPoint</Application>
  <PresentationFormat>Widescreen</PresentationFormat>
  <Paragraphs>120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Adobe Arabic</vt:lpstr>
      <vt:lpstr>Calibri</vt:lpstr>
      <vt:lpstr>Franklin Gothic Book</vt:lpstr>
      <vt:lpstr>Franklin Gothic Demi</vt:lpstr>
      <vt:lpstr>Wingdings 2</vt:lpstr>
      <vt:lpstr>DividendVTI</vt:lpstr>
      <vt:lpstr>Software Testing Project Para bank + Restful booker </vt:lpstr>
      <vt:lpstr>How it all started?</vt:lpstr>
      <vt:lpstr>Testing</vt:lpstr>
      <vt:lpstr>Para bank</vt:lpstr>
      <vt:lpstr>Manual testing</vt:lpstr>
      <vt:lpstr>Manual testing</vt:lpstr>
      <vt:lpstr>Manual testing</vt:lpstr>
      <vt:lpstr>Automation Testing</vt:lpstr>
      <vt:lpstr>Automation Testing</vt:lpstr>
      <vt:lpstr>Automation Testing</vt:lpstr>
      <vt:lpstr>Automation Testing</vt:lpstr>
      <vt:lpstr>API</vt:lpstr>
      <vt:lpstr>API</vt:lpstr>
      <vt:lpstr>features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abdelrhman saeed</dc:creator>
  <cp:lastModifiedBy>abdelrhman saeed</cp:lastModifiedBy>
  <cp:revision>15</cp:revision>
  <dcterms:created xsi:type="dcterms:W3CDTF">2025-12-07T11:05:53Z</dcterms:created>
  <dcterms:modified xsi:type="dcterms:W3CDTF">2025-12-10T11:14:34Z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